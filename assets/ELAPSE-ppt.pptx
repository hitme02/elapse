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365760"/>
            <a:ext cx="2926080" cy="2926080"/>
          </a:xfrm>
          <a:prstGeom prst="ellipse">
            <a:avLst/>
          </a:prstGeom>
          <a:solidFill>
            <a:srgbClr val="0A9396">
              <a:alpha val="12000"/>
            </a:srgbClr>
          </a:solidFill>
          <a:ln w="12700">
            <a:solidFill>
              <a:srgbClr val="0A9396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560320"/>
            <a:ext cx="1828800" cy="1828800"/>
          </a:xfrm>
          <a:prstGeom prst="ellipse">
            <a:avLst/>
          </a:prstGeom>
          <a:solidFill>
            <a:srgbClr val="94D2BD">
              <a:alpha val="10000"/>
            </a:srgbClr>
          </a:solidFill>
          <a:ln w="12700">
            <a:solidFill>
              <a:srgbClr val="94D2BD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800" kern="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ELAPSE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Entropy-Linked Autonomous Propagation and Self-Erasure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5029200" cy="36576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5603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smarter way to make sensitive data delete itself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it spreads too far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Chhavi Pareek  ·  Hitarth Mehra  ·  Harsh Patel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206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 of CSE, RV College of Engineering, Bangalore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you share a secret… can you really take it back?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20040" y="1691640"/>
            <a:ext cx="269748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691640"/>
            <a:ext cx="2697480" cy="640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830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🔓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escapes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a file is opened or forwarded, you lose control. It can copy itself across hundreds of devices in seconds.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0" y="1691640"/>
            <a:ext cx="269748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691640"/>
            <a:ext cx="2697480" cy="640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7830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⏰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337560" y="23317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Timers are blind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274320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delete data after a fixed time (like 8 hours) — but by then, it may have spread everywhere already.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80760" y="1691640"/>
            <a:ext cx="269748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1691640"/>
            <a:ext cx="2697480" cy="640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7830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217920" y="23317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 are unpredictable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274320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network (company, social, P2P) spreads data differently. A one-size-fits-all rule fails most of the time.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20040" y="44348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we need a system that watches how data spreads in real time — and acts before it's too late.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OTHERS HAVE TRIED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33172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3444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Area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0" y="1234440"/>
            <a:ext cx="269748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0" y="123444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Work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577840" y="1234440"/>
            <a:ext cx="342900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0" y="123444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Missing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627632"/>
            <a:ext cx="2331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0" y="1627632"/>
            <a:ext cx="2697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77840" y="1627632"/>
            <a:ext cx="3429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664208"/>
            <a:ext cx="2194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Self-destructing data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834640" y="1664208"/>
            <a:ext cx="2560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Vanish, FADE, Ephemerizer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69280" y="1664208"/>
            <a:ext cx="3291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use fixed timers — ignore how fast data actually spreads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157984"/>
            <a:ext cx="2331720" cy="502920"/>
          </a:xfrm>
          <a:prstGeom prst="rect">
            <a:avLst/>
          </a:prstGeom>
          <a:solidFill>
            <a:srgbClr val="E9F5F5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0" y="2157984"/>
            <a:ext cx="2697480" cy="502920"/>
          </a:xfrm>
          <a:prstGeom prst="rect">
            <a:avLst/>
          </a:prstGeom>
          <a:solidFill>
            <a:srgbClr val="E9F5F5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77840" y="2157984"/>
            <a:ext cx="3429000" cy="502920"/>
          </a:xfrm>
          <a:prstGeom prst="rect">
            <a:avLst/>
          </a:prstGeom>
          <a:solidFill>
            <a:srgbClr val="E9F5F5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194560"/>
            <a:ext cx="2194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Epidemic models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834640" y="2194560"/>
            <a:ext cx="2560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 / SIS models on networks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69280" y="2194560"/>
            <a:ext cx="3291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describing spread, but not designed for deletion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2688336"/>
            <a:ext cx="2331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0" y="2688336"/>
            <a:ext cx="2697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77840" y="2688336"/>
            <a:ext cx="3429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2724912"/>
            <a:ext cx="2194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Shannon entropy on graphs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834640" y="2724912"/>
            <a:ext cx="2560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Zhao et al. 2024, Shuman et al. 2013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669280" y="2724912"/>
            <a:ext cx="3291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spread well — but no one used it to trigger deletion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3218688"/>
            <a:ext cx="2331720" cy="502920"/>
          </a:xfrm>
          <a:prstGeom prst="rect">
            <a:avLst/>
          </a:prstGeom>
          <a:solidFill>
            <a:srgbClr val="E9F5F5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0" y="3218688"/>
            <a:ext cx="2697480" cy="502920"/>
          </a:xfrm>
          <a:prstGeom prst="rect">
            <a:avLst/>
          </a:prstGeom>
          <a:solidFill>
            <a:srgbClr val="E9F5F5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577840" y="3218688"/>
            <a:ext cx="3429000" cy="502920"/>
          </a:xfrm>
          <a:prstGeom prst="rect">
            <a:avLst/>
          </a:prstGeom>
          <a:solidFill>
            <a:srgbClr val="E9F5F5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255264"/>
            <a:ext cx="2194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unlearning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834640" y="3255264"/>
            <a:ext cx="2560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Bourtoule 2021, Juliussen 2023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669280" y="3255264"/>
            <a:ext cx="3291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on AI models, not live network data propagation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" y="3749040"/>
            <a:ext cx="2331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0" y="3749040"/>
            <a:ext cx="2697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577840" y="3749040"/>
            <a:ext cx="3429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3785616"/>
            <a:ext cx="2194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diffusion (PDE)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834640" y="3785616"/>
            <a:ext cx="2560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2021, Eliasof 2024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669280" y="3785616"/>
            <a:ext cx="3291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spread beautifully — but not applied to active containment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 &amp; THEIR LIMITS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9202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1920240" cy="347472"/>
          </a:xfrm>
          <a:prstGeom prst="rect">
            <a:avLst/>
          </a:prstGeom>
          <a:solidFill>
            <a:srgbClr val="1B2A3E"/>
          </a:solidFill>
          <a:ln w="12700">
            <a:solidFill>
              <a:srgbClr val="1B2A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960120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Vanish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(2009)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Hides decryption key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time in DHT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286000"/>
            <a:ext cx="1645920" cy="457200"/>
          </a:xfrm>
          <a:prstGeom prst="rect">
            <a:avLst/>
          </a:prstGeom>
          <a:solidFill>
            <a:srgbClr val="FDECEA"/>
          </a:solidFill>
          <a:ln w="6350">
            <a:solidFill>
              <a:srgbClr val="E8A0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286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Broken by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B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Sybil attacks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0" y="1828800"/>
            <a:ext cx="201168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87168" y="960120"/>
            <a:ext cx="19202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87168" y="960120"/>
            <a:ext cx="1920240" cy="347472"/>
          </a:xfrm>
          <a:prstGeom prst="rect">
            <a:avLst/>
          </a:prstGeom>
          <a:solidFill>
            <a:srgbClr val="1B2A3E"/>
          </a:solidFill>
          <a:ln w="12700">
            <a:solidFill>
              <a:srgbClr val="1B2A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960120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(2010)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78608" y="13716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 with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deletion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624328" y="2286000"/>
            <a:ext cx="1645920" cy="457200"/>
          </a:xfrm>
          <a:prstGeom prst="rect">
            <a:avLst/>
          </a:prstGeom>
          <a:solidFill>
            <a:srgbClr val="FDECEA"/>
          </a:solidFill>
          <a:ln w="6350">
            <a:solidFill>
              <a:srgbClr val="E8A0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24328" y="2286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Still uses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B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timers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07408" y="1828800"/>
            <a:ext cx="201168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8576" y="960120"/>
            <a:ext cx="19202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08576" y="960120"/>
            <a:ext cx="1920240" cy="347472"/>
          </a:xfrm>
          <a:prstGeom prst="rect">
            <a:avLst/>
          </a:prstGeom>
          <a:solidFill>
            <a:srgbClr val="1B2A3E"/>
          </a:solidFill>
          <a:ln w="12700">
            <a:solidFill>
              <a:srgbClr val="1B2A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1728" y="960120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Ephemerizer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(2005)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00016" y="13716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expires after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timeout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45736" y="2286000"/>
            <a:ext cx="1645920" cy="457200"/>
          </a:xfrm>
          <a:prstGeom prst="rect">
            <a:avLst/>
          </a:prstGeom>
          <a:solidFill>
            <a:srgbClr val="FDECEA"/>
          </a:solidFill>
          <a:ln w="6350">
            <a:solidFill>
              <a:srgbClr val="E8A0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45736" y="2286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Blind 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B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spread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28816" y="1828800"/>
            <a:ext cx="201168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29984" y="960120"/>
            <a:ext cx="19202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729984" y="960120"/>
            <a:ext cx="1920240" cy="347472"/>
          </a:xfrm>
          <a:prstGeom prst="rect">
            <a:avLst/>
          </a:prstGeom>
          <a:solidFill>
            <a:srgbClr val="1B2A3E"/>
          </a:solidFill>
          <a:ln w="12700">
            <a:solidFill>
              <a:srgbClr val="1B2A3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03136" y="960120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Unlearning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21424" y="13716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data from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memory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867144" y="2286000"/>
            <a:ext cx="1645920" cy="457200"/>
          </a:xfrm>
          <a:prstGeom prst="rect">
            <a:avLst/>
          </a:prstGeom>
          <a:solidFill>
            <a:srgbClr val="FDECEA"/>
          </a:solidFill>
          <a:ln w="6350">
            <a:solidFill>
              <a:srgbClr val="E8A0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67144" y="2286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Not for live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B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3108960"/>
            <a:ext cx="8412480" cy="685800"/>
          </a:xfrm>
          <a:prstGeom prst="rect">
            <a:avLst/>
          </a:prstGeom>
          <a:solidFill>
            <a:srgbClr val="FFF3CD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312724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The shared flaw in ALL existing systems: they decide when to delete based on the clock — not on how widely the data has actually spread.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65760" y="39319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ELAPSE fixes this by watching the spread pattern itself, not the clock.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400" kern="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Novelty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14800" cy="3291840"/>
          </a:xfrm>
          <a:prstGeom prst="rect">
            <a:avLst/>
          </a:prstGeom>
          <a:solidFill>
            <a:srgbClr val="1B2A3E"/>
          </a:solidFill>
          <a:ln w="12700">
            <a:solidFill>
              <a:srgbClr val="0A93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887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a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fire alarm 🌲🔥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3749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way: </a:t>
            </a:r>
            <a:pPr indent="0" marL="0">
              <a:buNone/>
            </a:pPr>
            <a:r>
              <a:rPr lang="en-US" sz="13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goes off after 8 hours no matter what.
</a:t>
            </a:r>
            <a:pPr indent="0" marL="0">
              <a:buNone/>
            </a:pPr>
            <a:r>
              <a:rPr lang="en-US" sz="13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ELAPSE way: </a:t>
            </a:r>
            <a:pPr indent="0" marL="0">
              <a:buNone/>
            </a:pPr>
            <a:r>
              <a:rPr lang="en-US" sz="13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goes off the moment the fire has spread to too many trees — regardless of how long it took.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4069080" cy="1115568"/>
          </a:xfrm>
          <a:prstGeom prst="rect">
            <a:avLst/>
          </a:prstGeom>
          <a:solidFill>
            <a:srgbClr val="1B2A3E"/>
          </a:solidFill>
          <a:ln w="12700">
            <a:solidFill>
              <a:srgbClr val="0A9396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97280"/>
            <a:ext cx="73152" cy="111556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9472" y="11704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Entropy as a ruler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19472" y="150876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measure how spread-out the data is using Shannon Entropy — a mathematical score. High score = data is everywhere = delete now.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2331720"/>
            <a:ext cx="4069080" cy="1115568"/>
          </a:xfrm>
          <a:prstGeom prst="rect">
            <a:avLst/>
          </a:prstGeom>
          <a:solidFill>
            <a:srgbClr val="1B2A3E"/>
          </a:solidFill>
          <a:ln w="12700">
            <a:solidFill>
              <a:srgbClr val="0A9396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2331720"/>
            <a:ext cx="73152" cy="111556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24048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  5 deletion engines in 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19472" y="274320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borrow deletion strategies from physics, biology, finance, epidemiology, and sociology — and blend the best of all five.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3566160"/>
            <a:ext cx="4069080" cy="1115568"/>
          </a:xfrm>
          <a:prstGeom prst="rect">
            <a:avLst/>
          </a:prstGeom>
          <a:solidFill>
            <a:srgbClr val="1B2A3E"/>
          </a:solidFill>
          <a:ln w="12700">
            <a:solidFill>
              <a:srgbClr val="0A9396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3566160"/>
            <a:ext cx="73152" cy="111556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9472" y="36393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Self-tuning weights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19472" y="397764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automatically learns which strategy works best for each type of network. No manual tuning needed.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ELAPSE WORKS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1572768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1572768" cy="38404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9144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3716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〰️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11480" y="1920240"/>
            <a:ext cx="13898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how data flows through the network like water through pipes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29968" y="914400"/>
            <a:ext cx="1572768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29968" y="914400"/>
            <a:ext cx="1572768" cy="38404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03120" y="9144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32888" y="91440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Epidemic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87168" y="13716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🦠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121408" y="1920240"/>
            <a:ext cx="13898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data spread like a virus — and triggers deletion like a cure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739896" y="914400"/>
            <a:ext cx="1572768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39896" y="914400"/>
            <a:ext cx="1572768" cy="38404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13048" y="9144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42816" y="91440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97096" y="13716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3831336" y="1920240"/>
            <a:ext cx="13898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Treats data risk like a stock price about to crash through a floor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49824" y="914400"/>
            <a:ext cx="1572768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49824" y="914400"/>
            <a:ext cx="1572768" cy="38404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22976" y="9144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952744" y="91440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07024" y="13716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🧬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5541264" y="1920240"/>
            <a:ext cx="13898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cooperative binding (like cells) for a smooth, stable deletion trigger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159752" y="914400"/>
            <a:ext cx="1572768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159752" y="914400"/>
            <a:ext cx="1572768" cy="38404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32904" y="9144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662672" y="91440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616952" y="13716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👥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7251192" y="1920240"/>
            <a:ext cx="13898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Deletes data when enough neighbours in the network have already deleted it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251960" y="3520440"/>
            <a:ext cx="640080" cy="3200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51960" y="35204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▼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828800" y="3886200"/>
            <a:ext cx="5486400" cy="868680"/>
          </a:xfrm>
          <a:prstGeom prst="rect">
            <a:avLst/>
          </a:prstGeom>
          <a:solidFill>
            <a:srgbClr val="0D1B2A"/>
          </a:solidFill>
          <a:ln w="19050">
            <a:solidFill>
              <a:srgbClr val="0A93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965960" y="3913632"/>
            <a:ext cx="5212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  ELAPSE Ensemble  —  blends all 5 engines with smart auto-tuned weights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6052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548640" cy="11704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3444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105156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clock with topology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41732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deleting after X hours, delete when the data has spread to too many places — measured using Shannon entropy.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2258568"/>
            <a:ext cx="416052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258568"/>
            <a:ext cx="548640" cy="11704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532888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60120" y="235000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across different networks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715768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sure the system works whether the network is random, hub-based (like social media), or small-world (like company networks).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3557016"/>
            <a:ext cx="416052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557016"/>
            <a:ext cx="548640" cy="11704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831336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60120" y="364845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it mathematically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4014216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formally that combining multiple deletion strategies always performs at least as well as any single one on its own.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960120"/>
            <a:ext cx="416052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960120"/>
            <a:ext cx="548640" cy="11704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23444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394960" y="105156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Auto-tune for each network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94960" y="141732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optimization to automatically find the best mix of deletion engines for any given network — no human tuning.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2258568"/>
            <a:ext cx="416052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258568"/>
            <a:ext cx="548640" cy="11704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532888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394960" y="235000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 existing protocols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94960" y="2715768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time-based protocols like Vanish by containing data spread 7.5× better, validated across 500-node network simulations.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AT A GLANCE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0116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2011680" cy="640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515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93.3%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11480" y="16916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privacy exposure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(vs. no deletion)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914400"/>
            <a:ext cx="20116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68880" y="914400"/>
            <a:ext cx="2011680" cy="6400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0515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7.5×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560320" y="16916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than Vanish-style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timed protocols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17720" y="914400"/>
            <a:ext cx="20116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914400"/>
            <a:ext cx="2011680" cy="64008"/>
          </a:xfrm>
          <a:prstGeom prst="rect">
            <a:avLst/>
          </a:prstGeom>
          <a:solidFill>
            <a:srgbClr val="1B2A3E"/>
          </a:solidFill>
          <a:ln w="12700">
            <a:solidFill>
              <a:srgbClr val="1B2A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0515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types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709160" y="16916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networks tested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(random, hub, small-world)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66560" y="914400"/>
            <a:ext cx="20116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66560" y="914400"/>
            <a:ext cx="2011680" cy="64008"/>
          </a:xfrm>
          <a:prstGeom prst="rect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10515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A1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858000" y="16916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— largest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tested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25146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 Score (lower = better privacy protection)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296265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deletion (M0)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514600" y="2990088"/>
            <a:ext cx="6217920" cy="292608"/>
          </a:xfrm>
          <a:prstGeom prst="rect">
            <a:avLst/>
          </a:prstGeom>
          <a:solidFill>
            <a:srgbClr val="9B2226"/>
          </a:solidFill>
          <a:ln w="12700">
            <a:solidFill>
              <a:srgbClr val="9B22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05672" y="2962656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7,055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345643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Vanish-style timer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514600" y="3483864"/>
            <a:ext cx="3108960" cy="292608"/>
          </a:xfrm>
          <a:prstGeom prst="rect">
            <a:avLst/>
          </a:prstGeom>
          <a:solidFill>
            <a:srgbClr val="CA6702"/>
          </a:solidFill>
          <a:ln w="12700">
            <a:solidFill>
              <a:srgbClr val="CA670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96712" y="345643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67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3,528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395020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single engine (M4)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514600" y="3977640"/>
            <a:ext cx="466344" cy="292608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54096" y="395020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444398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ELAPSE Ensemble (M6)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514600" y="4471416"/>
            <a:ext cx="416601" cy="2926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04353" y="4443984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4114800" cy="4114800"/>
          </a:xfrm>
          <a:prstGeom prst="ellipse">
            <a:avLst/>
          </a:prstGeom>
          <a:solidFill>
            <a:srgbClr val="0A9396">
              <a:alpha val="10000"/>
            </a:srgbClr>
          </a:solidFill>
          <a:ln w="12700">
            <a:solidFill>
              <a:srgbClr val="0A9396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94D2BD">
              <a:alpha val="8000"/>
            </a:srgbClr>
          </a:solidFill>
          <a:ln w="12700">
            <a:solidFill>
              <a:srgbClr val="94D2BD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400" kern="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3657600" cy="36576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ELAPSE shows that data can be made to delete itself at the right time — not just after a fixed delay, but when it has actually spread too far.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Replaces clocks with real-time spread measurement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31343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Blends 5 domain-inspired deletion strategies into one smart ensemble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75234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Mathematically proven to beat any single strategy on its own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19125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93.3% less privacy exposure vs. uncontrolled spread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703320"/>
            <a:ext cx="8229600" cy="777240"/>
          </a:xfrm>
          <a:prstGeom prst="rect">
            <a:avLst/>
          </a:prstGeom>
          <a:solidFill>
            <a:srgbClr val="1B2A3E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730752"/>
            <a:ext cx="79552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real-world deployment on live networks, neural weight prediction, directed graph support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ELAPSE</dc:title>
  <dc:subject>PptxGenJS Presentation</dc:subject>
  <dc:creator>PptxGenJS</dc:creator>
  <cp:lastModifiedBy>PptxGenJS</cp:lastModifiedBy>
  <cp:revision>1</cp:revision>
  <dcterms:created xsi:type="dcterms:W3CDTF">2026-03-14T08:57:13Z</dcterms:created>
  <dcterms:modified xsi:type="dcterms:W3CDTF">2026-03-14T08:57:13Z</dcterms:modified>
</cp:coreProperties>
</file>